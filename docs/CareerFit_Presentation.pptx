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1B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297680"/>
            <a:ext cx="2926080" cy="2926080"/>
          </a:xfrm>
          <a:prstGeom prst="ellipse">
            <a:avLst/>
          </a:prstGeom>
          <a:solidFill>
            <a:srgbClr val="2A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754880"/>
            <a:ext cx="2377440" cy="2377440"/>
          </a:xfrm>
          <a:prstGeom prst="ellipse">
            <a:avLst/>
          </a:prstGeom>
          <a:solidFill>
            <a:srgbClr val="2A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D9A412"/>
                </a:solidFill>
                <a:latin typeface="Calibri"/>
              </a:rPr>
              <a:t>LAGOS STATE UNIVERSITY, OJO   |   DEPARTMENT OF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Georgia"/>
              </a:rPr>
              <a:t>CareerFit</a:t>
            </a:r>
          </a:p>
        </p:txBody>
      </p:sp>
      <p:sp>
        <p:nvSpPr>
          <p:cNvPr id="7" name="Oval 6"/>
          <p:cNvSpPr/>
          <p:nvPr/>
        </p:nvSpPr>
        <p:spPr>
          <a:xfrm>
            <a:off x="5486400" y="1417320"/>
            <a:ext cx="292608" cy="292608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C7D0E0"/>
                </a:solidFill>
                <a:latin typeface="Calibri"/>
              </a:rPr>
              <a:t>Development of an AI-Powered Career Path Recommender</a:t>
            </a:r>
          </a:p>
          <a:p>
            <a:pPr algn="l"/>
            <a:r>
              <a:rPr sz="2100" b="0" i="0">
                <a:solidFill>
                  <a:srgbClr val="C7D0E0"/>
                </a:solidFill>
                <a:latin typeface="Calibri"/>
              </a:rPr>
              <a:t>for University Students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703320"/>
            <a:ext cx="2103120" cy="50800"/>
          </a:xfrm>
          <a:prstGeom prst="rect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5720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Adegbite Moyomade Akanji   |   Matric No: 220591338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7D0E0"/>
                </a:solidFill>
                <a:latin typeface="Calibri"/>
              </a:rPr>
              <a:t>B.Sc. Computer Science — Faculty of Computing &amp; Information Technology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C7D0E0"/>
                </a:solidFill>
                <a:latin typeface="Calibri"/>
              </a:rPr>
              <a:t>Supervisors: Prof. Benjamin Aribisala &amp; Mr. Mauton Asokere   |   2025/2026 Academic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PRESENTATION OUTLINE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01368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1D45"/>
                </a:solidFill>
                <a:latin typeface="Calibri"/>
              </a:rPr>
              <a:t>Introduction &amp; Background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A6B7F"/>
                </a:solidFill>
                <a:latin typeface="Calibri"/>
              </a:rPr>
              <a:t>Chapter 1 — Problem context, Nigerian unemployment, and the need for AI guidance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0020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29400" y="2011680"/>
            <a:ext cx="594360" cy="594360"/>
          </a:xfrm>
          <a:prstGeom prst="ellipse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01368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1D45"/>
                </a:solidFill>
                <a:latin typeface="Calibri"/>
              </a:rPr>
              <a:t>Aim, Objectives &amp; Scope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A6B7F"/>
                </a:solidFill>
                <a:latin typeface="Calibri"/>
              </a:rPr>
              <a:t>Chapter 1 — Research goals, research questions, and system boundaries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461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657600"/>
            <a:ext cx="594360" cy="594360"/>
          </a:xfrm>
          <a:prstGeom prst="ellipse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47288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1D45"/>
                </a:solidFill>
                <a:latin typeface="Calibri"/>
              </a:rPr>
              <a:t>Theoretical Framework &amp; Review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A6B7F"/>
                </a:solidFill>
                <a:latin typeface="Calibri"/>
              </a:rPr>
              <a:t>Chapter 2 — RIASEC model, related works, and literature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2461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29400" y="3657600"/>
            <a:ext cx="594360" cy="594360"/>
          </a:xfrm>
          <a:prstGeom prst="ellipse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447288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1D45"/>
                </a:solidFill>
                <a:latin typeface="Calibri"/>
              </a:rPr>
              <a:t>System Design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A6B7F"/>
                </a:solidFill>
                <a:latin typeface="Calibri"/>
              </a:rPr>
              <a:t>Chapter 3 — Architecture, database (ERD), and process workflows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9204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093208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1D45"/>
                </a:solidFill>
                <a:latin typeface="Calibri"/>
              </a:rPr>
              <a:t>Implementation &amp; Testing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A6B7F"/>
                </a:solidFill>
                <a:latin typeface="Calibri"/>
              </a:rPr>
              <a:t>Chapter 4 — Modules built, ML evaluation results, and API 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89204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5303520"/>
            <a:ext cx="594360" cy="594360"/>
          </a:xfrm>
          <a:prstGeom prst="ellipse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093208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1D45"/>
                </a:solidFill>
                <a:latin typeface="Calibri"/>
              </a:rPr>
              <a:t>Conclusion &amp; Recommendations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A6B7F"/>
                </a:solidFill>
                <a:latin typeface="Calibri"/>
              </a:rPr>
              <a:t>Chapter 5 — Findings, contributions,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BACKGROUND OF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D45"/>
                </a:solidFill>
                <a:latin typeface="Georgia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5943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A2740"/>
                </a:solidFill>
                <a:latin typeface="Calibri"/>
              </a:rPr>
              <a:t>Career guidance in Nigerian universities is severely limited. Students routinely make decisions without structured support — relying on peer advice and personal judgment rather than data or professional counselling.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A2740"/>
                </a:solidFill>
                <a:latin typeface="Calibri"/>
              </a:rPr>
              <a:t>High student-to-counsellor ratios make personalised guidance practically impossible. Behavioural biases (herd mentality, social comparison, status-quo bias) push students toward peer-popular careers over genuine aptitude.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A2740"/>
                </a:solidFill>
                <a:latin typeface="Calibri"/>
              </a:rPr>
              <a:t>The result: skills mismatch, graduate underemployment, and misaligned outcomes across Nigeria's labour market.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554480"/>
            <a:ext cx="4754880" cy="14173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719072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Georgia"/>
              </a:rPr>
              <a:t>23%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39572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7F"/>
                </a:solidFill>
                <a:latin typeface="Calibri"/>
              </a:rPr>
              <a:t>of Nigerian youth (18–35) unemployed &amp; actively job-seeking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3182112"/>
            <a:ext cx="4754880" cy="14173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3346704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6FB5"/>
                </a:solidFill>
                <a:latin typeface="Georgia"/>
              </a:rPr>
              <a:t>3,500:1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02336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7F"/>
                </a:solidFill>
                <a:latin typeface="Calibri"/>
              </a:rPr>
              <a:t>estimated student-to-counsellor ratio in African institutions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809744"/>
            <a:ext cx="4754880" cy="14173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4974336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7A4D"/>
                </a:solidFill>
                <a:latin typeface="Georgia"/>
              </a:rPr>
              <a:t>Barrier 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5650992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7F"/>
                </a:solidFill>
                <a:latin typeface="Calibri"/>
              </a:rPr>
              <a:t>Inadequate skills preparation — cited above general job scarcity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B7F"/>
                </a:solidFill>
                <a:latin typeface="Calibri"/>
              </a:rPr>
              <a:t>Sources: Afrobarometer (2024); Otwine et al.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AIM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A412"/>
                </a:solidFill>
                <a:latin typeface="Calibri"/>
              </a:rPr>
              <a:t>AIM: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To develop an AI-powered career path recommender that provides personalised, data-driven career guidance to university students at Lagos State University.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5349240" cy="17373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2971800"/>
            <a:ext cx="566928" cy="566928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953512"/>
            <a:ext cx="4160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740"/>
                </a:solidFill>
                <a:latin typeface="Calibri"/>
              </a:rPr>
              <a:t>Analyse and document key factors influencing student career choices — RIASEC personality, academic performance (CGPA), self-assessed skills, and Nigerian labour-market realities.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697480"/>
            <a:ext cx="5349240" cy="17373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1112" y="2971800"/>
            <a:ext cx="566928" cy="566928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953512"/>
            <a:ext cx="4160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740"/>
                </a:solidFill>
                <a:latin typeface="Calibri"/>
              </a:rPr>
              <a:t>Critically review existing career guidance systems and AI-based recommender approaches, identifying strengths, limitations, and applicability to the Nigerian university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09160"/>
            <a:ext cx="5349240" cy="17373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2" y="4983480"/>
            <a:ext cx="566928" cy="566928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965192"/>
            <a:ext cx="4160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740"/>
                </a:solidFill>
                <a:latin typeface="Calibri"/>
              </a:rPr>
              <a:t>Design and implement an AI-powered recommender using the Random Forest algorithm, integrating multi-factor student inputs through a web-based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709160"/>
            <a:ext cx="5349240" cy="17373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11112" y="4983480"/>
            <a:ext cx="566928" cy="566928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965192"/>
            <a:ext cx="4160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740"/>
                </a:solidFill>
                <a:latin typeface="Calibri"/>
              </a:rPr>
              <a:t>Evaluate system effectiveness using accuracy, precision, recall and F1-score, supplemented by 5-fold cross-validation to confirm stable generalisation.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SIGNIFICANCE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E1D45"/>
                </a:solidFill>
                <a:latin typeface="Georgia"/>
              </a:rPr>
              <a:t>Who Benefits &amp; How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75688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2E6FB5"/>
                </a:solidFill>
                <a:latin typeface="Calibri"/>
              </a:rPr>
              <a:t>Students at LASU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B7F"/>
                </a:solidFill>
                <a:latin typeface="Calibri"/>
              </a:rPr>
              <a:t>Scalable, data-driven alternative to counselling — better career-to-profile alignment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99231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59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2E6FB5"/>
                </a:solidFill>
                <a:latin typeface="Calibri"/>
              </a:rPr>
              <a:t>Career Counsellors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B7F"/>
                </a:solidFill>
                <a:latin typeface="Calibri"/>
              </a:rPr>
              <a:t>Decision-support tool reducing dependence on overstretched staff; greater consistency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32502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42230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2E6FB5"/>
                </a:solidFill>
                <a:latin typeface="Calibri"/>
              </a:rPr>
              <a:t>Institutional Admins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B7F"/>
                </a:solidFill>
                <a:latin typeface="Calibri"/>
              </a:rPr>
              <a:t>Structured career guidance infrastructure to address graduate unemployment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65773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75501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2E6FB5"/>
                </a:solidFill>
                <a:latin typeface="Calibri"/>
              </a:rPr>
              <a:t>Academic Community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B7F"/>
                </a:solidFill>
                <a:latin typeface="Calibri"/>
              </a:rPr>
              <a:t>First career recommender designed &amp; validated for an African university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4173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E1D45"/>
                </a:solidFill>
                <a:latin typeface="Georgia"/>
              </a:rPr>
              <a:t>Scope &amp;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7A4D"/>
                </a:solidFill>
                <a:latin typeface="Calibri"/>
              </a:rPr>
              <a:t>Covers: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2740"/>
                </a:solidFill>
                <a:latin typeface="Calibri"/>
              </a:rPr>
              <a:t>•  Undergraduate students at Lagos State University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2740"/>
                </a:solidFill>
                <a:latin typeface="Calibri"/>
              </a:rPr>
              <a:t>•  RIASEC personality, CGPA, and 10 self-assessed skills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2740"/>
                </a:solidFill>
                <a:latin typeface="Calibri"/>
              </a:rPr>
              <a:t>•  24 career categories spanning all six RIASEC types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2740"/>
                </a:solidFill>
                <a:latin typeface="Calibri"/>
              </a:rPr>
              <a:t>•  Random Forest trained on an 8,040-record synthetic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434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0392B"/>
                </a:solidFill>
                <a:latin typeface="Calibri"/>
              </a:rPr>
              <a:t>Does Not Cover: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84632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2740"/>
                </a:solidFill>
                <a:latin typeface="Calibri"/>
              </a:rPr>
              <a:t>•  Real institutional student records (privacy constraints)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2740"/>
                </a:solidFill>
                <a:latin typeface="Calibri"/>
              </a:rPr>
              <a:t>•  Career categories beyond the 24 defined options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2740"/>
                </a:solidFill>
                <a:latin typeface="Calibri"/>
              </a:rPr>
              <a:t>•  Generalisation to other universities without further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CONCEPTUAL &amp; THEORETICAL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258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1D45"/>
                </a:solidFill>
                <a:latin typeface="Georgia"/>
              </a:rPr>
              <a:t>Holland's RIASEC Model — Vocational Personality Types</a:t>
            </a:r>
          </a:p>
        </p:txBody>
      </p:sp>
      <p:sp>
        <p:nvSpPr>
          <p:cNvPr id="5" name="Oval 4"/>
          <p:cNvSpPr/>
          <p:nvPr/>
        </p:nvSpPr>
        <p:spPr>
          <a:xfrm>
            <a:off x="778285" y="1828800"/>
            <a:ext cx="914400" cy="914400"/>
          </a:xfrm>
          <a:prstGeom prst="ellipse">
            <a:avLst/>
          </a:prstGeom>
          <a:solidFill>
            <a:srgbClr val="D2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825" y="283464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2740"/>
                </a:solidFill>
                <a:latin typeface="Calibri"/>
              </a:rPr>
              <a:t>Realistic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385" y="3127248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6B7F"/>
                </a:solidFill>
                <a:latin typeface="Calibri"/>
              </a:rPr>
              <a:t>Hands-on &amp; Technical</a:t>
            </a:r>
          </a:p>
        </p:txBody>
      </p:sp>
      <p:sp>
        <p:nvSpPr>
          <p:cNvPr id="8" name="Oval 7"/>
          <p:cNvSpPr/>
          <p:nvPr/>
        </p:nvSpPr>
        <p:spPr>
          <a:xfrm>
            <a:off x="2722430" y="1828800"/>
            <a:ext cx="914400" cy="9144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0970" y="283464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2740"/>
                </a:solidFill>
                <a:latin typeface="Calibri"/>
              </a:rPr>
              <a:t>Investigative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9530" y="3127248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6B7F"/>
                </a:solidFill>
                <a:latin typeface="Calibri"/>
              </a:rPr>
              <a:t>Analytical &amp; Research</a:t>
            </a:r>
          </a:p>
        </p:txBody>
      </p:sp>
      <p:sp>
        <p:nvSpPr>
          <p:cNvPr id="11" name="Oval 10"/>
          <p:cNvSpPr/>
          <p:nvPr/>
        </p:nvSpPr>
        <p:spPr>
          <a:xfrm>
            <a:off x="4666575" y="1828800"/>
            <a:ext cx="914400" cy="914400"/>
          </a:xfrm>
          <a:prstGeom prst="ellipse">
            <a:avLst/>
          </a:prstGeom>
          <a:solidFill>
            <a:srgbClr val="7A2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5115" y="283464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2740"/>
                </a:solidFill>
                <a:latin typeface="Calibri"/>
              </a:rPr>
              <a:t>Artistic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3675" y="3127248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6B7F"/>
                </a:solidFill>
                <a:latin typeface="Calibri"/>
              </a:rPr>
              <a:t>Creative &amp; Expressive</a:t>
            </a:r>
          </a:p>
        </p:txBody>
      </p:sp>
      <p:sp>
        <p:nvSpPr>
          <p:cNvPr id="14" name="Oval 13"/>
          <p:cNvSpPr/>
          <p:nvPr/>
        </p:nvSpPr>
        <p:spPr>
          <a:xfrm>
            <a:off x="6610720" y="1828800"/>
            <a:ext cx="914400" cy="914400"/>
          </a:xfrm>
          <a:prstGeom prst="ellipse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9260" y="283464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2740"/>
                </a:solidFill>
                <a:latin typeface="Calibri"/>
              </a:rPr>
              <a:t>Social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7820" y="3127248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6B7F"/>
                </a:solidFill>
                <a:latin typeface="Calibri"/>
              </a:rPr>
              <a:t>Helping &amp; Teaching</a:t>
            </a:r>
          </a:p>
        </p:txBody>
      </p:sp>
      <p:sp>
        <p:nvSpPr>
          <p:cNvPr id="17" name="Oval 16"/>
          <p:cNvSpPr/>
          <p:nvPr/>
        </p:nvSpPr>
        <p:spPr>
          <a:xfrm>
            <a:off x="8554865" y="1828800"/>
            <a:ext cx="914400" cy="9144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3405" y="283464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2740"/>
                </a:solidFill>
                <a:latin typeface="Calibri"/>
              </a:rPr>
              <a:t>Enterprising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965" y="3127248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6B7F"/>
                </a:solidFill>
                <a:latin typeface="Calibri"/>
              </a:rPr>
              <a:t>Leadership &amp; Business</a:t>
            </a:r>
          </a:p>
        </p:txBody>
      </p:sp>
      <p:sp>
        <p:nvSpPr>
          <p:cNvPr id="20" name="Oval 19"/>
          <p:cNvSpPr/>
          <p:nvPr/>
        </p:nvSpPr>
        <p:spPr>
          <a:xfrm>
            <a:off x="10499010" y="1828800"/>
            <a:ext cx="914400" cy="914400"/>
          </a:xfrm>
          <a:prstGeom prst="ellipse">
            <a:avLst/>
          </a:prstGeom>
          <a:solidFill>
            <a:srgbClr val="0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7550" y="283464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A2740"/>
                </a:solidFill>
                <a:latin typeface="Calibri"/>
              </a:rPr>
              <a:t>Conventional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6110" y="3127248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6B7F"/>
                </a:solidFill>
                <a:latin typeface="Calibri"/>
              </a:rPr>
              <a:t>Structured &amp;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0332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03320"/>
            <a:ext cx="10698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0E1D45"/>
                </a:solidFill>
                <a:latin typeface="Calibri"/>
              </a:rPr>
              <a:t>Core Principle: Congruence between personality type and work environment predicts career satisfaction and achievement (Holland, 1997; Batista &amp; Gondim, 2023).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720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1D45"/>
                </a:solidFill>
                <a:latin typeface="Georgia"/>
              </a:rPr>
              <a:t>Why Random Forest?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83480"/>
            <a:ext cx="5669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740"/>
                </a:solidFill>
                <a:latin typeface="Calibri"/>
              </a:rPr>
              <a:t>•  Ensemble of 200 trees → robust to overfitting on synthetic data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740"/>
                </a:solidFill>
                <a:latin typeface="Calibri"/>
              </a:rPr>
              <a:t>•  Handles mixed inputs: RIASEC + CGPA + skill scores natively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740"/>
                </a:solidFill>
                <a:latin typeface="Calibri"/>
              </a:rPr>
              <a:t>•  Native feature importance powers the “Why this fits you” explanations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740"/>
                </a:solidFill>
                <a:latin typeface="Calibri"/>
              </a:rPr>
              <a:t>•  Strong, interpretable performer across comparable career studies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57200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D45"/>
                </a:solidFill>
                <a:latin typeface="Calibri"/>
              </a:rPr>
              <a:t>17 Input Features → 24 Career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2120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740"/>
                </a:solidFill>
                <a:latin typeface="Calibri"/>
              </a:rPr>
              <a:t>6 RIASEC scores (1–10)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740"/>
                </a:solidFill>
                <a:latin typeface="Calibri"/>
              </a:rPr>
              <a:t>1 CGPA on a 5.0 scale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740"/>
                </a:solidFill>
                <a:latin typeface="Calibri"/>
              </a:rPr>
              <a:t>10 self-assessed skill ratings (1–5)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2740"/>
                </a:solidFill>
                <a:latin typeface="Calibri"/>
              </a:rPr>
              <a:t>→ Classified into 1 of 24 career categories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RELATED WORKS &amp; LITERATURE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5349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1D45"/>
                </a:solidFill>
                <a:latin typeface="Calibri"/>
              </a:rPr>
              <a:t>Wang et al. (2022)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2740"/>
                </a:solidFill>
                <a:latin typeface="Calibri"/>
              </a:rPr>
              <a:t>XGBoost on 18,000 graduates — 89.1% precision for career prediction from campus behavioural data.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C0392B"/>
                </a:solidFill>
                <a:latin typeface="Calibri"/>
              </a:rPr>
              <a:t>Limitation: East Asian context; no personality or skills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349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627632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1D45"/>
                </a:solidFill>
                <a:latin typeface="Calibri"/>
              </a:rPr>
              <a:t>Siswipraptini et al. (2024)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2740"/>
                </a:solidFill>
                <a:latin typeface="Calibri"/>
              </a:rPr>
              <a:t>Naïve Bayes for IT students (Indonesia) combining personality, grades, and job profiles — web-based.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C0392B"/>
                </a:solidFill>
                <a:latin typeface="Calibri"/>
              </a:rPr>
              <a:t>Limitation: Assumes feature independence; limited to IT 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37560"/>
            <a:ext cx="5349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02152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1D45"/>
                </a:solidFill>
                <a:latin typeface="Calibri"/>
              </a:rPr>
              <a:t>Hermogenes et al. (2024)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2740"/>
                </a:solidFill>
                <a:latin typeface="Calibri"/>
              </a:rPr>
              <a:t>Random Forest on academic performance data → 87.19% accuracy predicting IT career specialisation.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C0392B"/>
                </a:solidFill>
                <a:latin typeface="Calibri"/>
              </a:rPr>
              <a:t>Limitation: Academic data only; no personality or skills component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337560"/>
            <a:ext cx="53492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502152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1D45"/>
                </a:solidFill>
                <a:latin typeface="Calibri"/>
              </a:rPr>
              <a:t>Trujillo et al. (2025)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2740"/>
                </a:solidFill>
                <a:latin typeface="Calibri"/>
              </a:rPr>
              <a:t>Systematic review of 38 studies — RF, SVM and Neural Networks are top performers in career research.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C0392B"/>
                </a:solidFill>
                <a:latin typeface="Calibri"/>
              </a:rPr>
              <a:t>Limitation: Notes lack of open datasets; no sub-Saharan African study found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212080"/>
            <a:ext cx="11155680" cy="1005840"/>
          </a:xfrm>
          <a:prstGeom prst="roundRect">
            <a:avLst>
              <a:gd name="adj" fmla="val 6000"/>
            </a:avLst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D9A412"/>
                </a:solidFill>
                <a:latin typeface="Calibri"/>
              </a:rPr>
              <a:t>Research Gap: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No published system has been designed or validated for Nigerian university students. CareerFit fills this gap — a multi-factor Random Forest recommender built for LASU.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EXISTING SYSTEM &amp; ITS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1D45"/>
                </a:solidFill>
                <a:latin typeface="Georgia"/>
              </a:rPr>
              <a:t>How It Currently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740"/>
                </a:solidFill>
                <a:latin typeface="Calibri"/>
              </a:rPr>
              <a:t>Students rely on personal judgment, family advice, peer influence, and limited access to counsellors. There is no standardised process, no structured self-assessment, and no data-driven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83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7A4D"/>
                </a:solidFill>
                <a:latin typeface="Calibri"/>
              </a:rPr>
              <a:t>Some Advantages: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5303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1A2740"/>
                </a:solidFill>
                <a:latin typeface="Calibri"/>
              </a:rPr>
              <a:t>•  Flexible — students free to explore any path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1A2740"/>
                </a:solidFill>
                <a:latin typeface="Calibri"/>
              </a:rPr>
              <a:t>•  Low cost — no infrastructure required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1A2740"/>
                </a:solidFill>
                <a:latin typeface="Calibri"/>
              </a:rPr>
              <a:t>•  Peer and family support readily accessible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1A2740"/>
                </a:solidFill>
                <a:latin typeface="Calibri"/>
              </a:rPr>
              <a:t>•  Self-exploration through internships and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Georgia"/>
              </a:rPr>
              <a:t>Critical Problems</a:t>
            </a:r>
          </a:p>
        </p:txBody>
      </p:sp>
      <p:sp>
        <p:nvSpPr>
          <p:cNvPr id="9" name="Oval 8"/>
          <p:cNvSpPr/>
          <p:nvPr/>
        </p:nvSpPr>
        <p:spPr>
          <a:xfrm>
            <a:off x="6537960" y="192024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No Structure: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2740"/>
                </a:solidFill>
                <a:latin typeface="Calibri"/>
              </a:rPr>
              <a:t>No defined process from self-assessment to career selection</a:t>
            </a:r>
          </a:p>
        </p:txBody>
      </p:sp>
      <p:sp>
        <p:nvSpPr>
          <p:cNvPr id="11" name="Oval 10"/>
          <p:cNvSpPr/>
          <p:nvPr/>
        </p:nvSpPr>
        <p:spPr>
          <a:xfrm>
            <a:off x="6537960" y="2816352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770632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Opinion-Based Choices: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2740"/>
                </a:solidFill>
                <a:latin typeface="Calibri"/>
              </a:rPr>
              <a:t>Decisions driven by peer pressure, not aptitude or data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371246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66674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No Personalisation: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2740"/>
                </a:solidFill>
                <a:latin typeface="Calibri"/>
              </a:rPr>
              <a:t>Personality, CGPA and skills are never analysed together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4608576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562856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Unequal Access: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2740"/>
                </a:solidFill>
                <a:latin typeface="Calibri"/>
              </a:rPr>
              <a:t>Not all students reach a counsellor — support is inconsistent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5504688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5458968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Poor Alignment: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2740"/>
                </a:solidFill>
                <a:latin typeface="Calibri"/>
              </a:rPr>
              <a:t>Graduates pick paths mismatched with strengths and market demand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A412"/>
                </a:solidFill>
                <a:latin typeface="Calibri"/>
              </a:rPr>
              <a:t>Three-Tier Client–Server Design   |   React + Flask + scikit-learn + MongoDB Atlas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27080" cy="1325880"/>
          </a:xfrm>
          <a:prstGeom prst="roundRect">
            <a:avLst>
              <a:gd name="adj" fmla="val 5000"/>
            </a:avLst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75687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75687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E1D45"/>
                </a:solidFill>
                <a:latin typeface="Calibri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39111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INPUT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24327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AEFF7"/>
                </a:solidFill>
                <a:latin typeface="Calibri"/>
              </a:rPr>
              <a:t>RIASEC Personality Assessment (18 questions)  •  CGPA Input  •  10 Self-Assessed Skills  •  React + Vite 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3200399"/>
            <a:ext cx="63500" cy="164592"/>
          </a:xfrm>
          <a:prstGeom prst="rect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364991"/>
            <a:ext cx="10927080" cy="1325880"/>
          </a:xfrm>
          <a:prstGeom prst="roundRect">
            <a:avLst>
              <a:gd name="adj" fmla="val 5000"/>
            </a:avLst>
          </a:prstGeom>
          <a:solidFill>
            <a:srgbClr val="12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566159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66159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E1D45"/>
                </a:solidFill>
                <a:latin typeface="Calibri"/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529583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PROCESSING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799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AEFF7"/>
                </a:solidFill>
                <a:latin typeface="Calibri"/>
              </a:rPr>
              <a:t>Input Validation &amp; Preprocessing  •  Label Encoding + Normalisation  •  Random Forest Classifier (200 trees)  •  Flask REST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690871"/>
            <a:ext cx="63500" cy="164592"/>
          </a:xfrm>
          <a:prstGeom prst="rect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855463"/>
            <a:ext cx="10927080" cy="1325880"/>
          </a:xfrm>
          <a:prstGeom prst="roundRect">
            <a:avLst>
              <a:gd name="adj" fmla="val 5000"/>
            </a:avLst>
          </a:prstGeom>
          <a:solidFill>
            <a:srgbClr val="7A2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5056631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56631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E1D45"/>
                </a:solidFill>
                <a:latin typeface="Calibri"/>
              </a:rPr>
              <a:t>Data /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020055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OUTPUT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05271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AEFF7"/>
                </a:solidFill>
                <a:latin typeface="Calibri"/>
              </a:rPr>
              <a:t>Top-3 Ranked Recommendations + Match % + “Why this fits you”  •  MongoDB Atlas Persistence  •  Dashboard &amp;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A6B7F"/>
                </a:solidFill>
                <a:latin typeface="Calibri"/>
              </a:rPr>
              <a:t>JWT stateless authentication throughout  |  Model loaded once at startup for fast inference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DATABASE &amp; PROCESS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1D45"/>
                </a:solidFill>
                <a:latin typeface="Georgia"/>
              </a:rPr>
              <a:t>Entity Relationship Model (MongoDB)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3911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FB5"/>
                </a:solidFill>
                <a:latin typeface="Calibri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2740"/>
                </a:solidFill>
                <a:latin typeface="Calibri"/>
              </a:rPr>
              <a:t>user_id (PK) · name · email · password_hash · created_at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9232"/>
            <a:ext cx="5486400" cy="114300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1810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FB5"/>
                </a:solidFill>
                <a:latin typeface="Calibri"/>
              </a:rPr>
              <a:t>STUDENT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56432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2740"/>
                </a:solidFill>
                <a:latin typeface="Calibri"/>
              </a:rPr>
              <a:t>profile_id (PK) · user_id (FK) · riasec · cgpa · skills · timestamps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 i="1">
                <a:solidFill>
                  <a:srgbClr val="1E7A4D"/>
                </a:solidFill>
                <a:latin typeface="Calibri"/>
              </a:rPr>
              <a:t>↳ 1 user → 1 student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306824"/>
            <a:ext cx="5486400" cy="114300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2569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FB5"/>
                </a:solidFill>
                <a:latin typeface="Calibri"/>
              </a:rPr>
              <a:t>CAREER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64024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2740"/>
                </a:solidFill>
                <a:latin typeface="Calibri"/>
              </a:rPr>
              <a:t>rec_id (PK) · profile_id (FK) · career_name · match_% · date_generated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1A2740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 i="1">
                <a:solidFill>
                  <a:srgbClr val="1E7A4D"/>
                </a:solidFill>
                <a:latin typeface="Calibri"/>
              </a:rPr>
              <a:t>↳ 1 profile → many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1D45"/>
                </a:solidFill>
                <a:latin typeface="Georgia"/>
              </a:rPr>
              <a:t>Career Recommendation Workflow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1965960"/>
            <a:ext cx="475488" cy="475488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0116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740"/>
                </a:solidFill>
                <a:latin typeface="Calibri"/>
              </a:rPr>
              <a:t>Student accesses the system through the web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3136" y="2441448"/>
            <a:ext cx="31750" cy="246888"/>
          </a:xfrm>
          <a:prstGeom prst="rect">
            <a:avLst/>
          </a:prstGeom>
          <a:solidFill>
            <a:srgbClr val="CF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0" y="2688336"/>
            <a:ext cx="475488" cy="475488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73405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740"/>
                </a:solidFill>
                <a:latin typeface="Calibri"/>
              </a:rPr>
              <a:t>Enters RIASEC responses, CGPA, and skill ratings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03136" y="3163824"/>
            <a:ext cx="31750" cy="246888"/>
          </a:xfrm>
          <a:prstGeom prst="rect">
            <a:avLst/>
          </a:prstGeom>
          <a:solidFill>
            <a:srgbClr val="CF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456432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740"/>
                </a:solidFill>
                <a:latin typeface="Calibri"/>
              </a:rPr>
              <a:t>System validates all 17 required feature inputs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03136" y="3886200"/>
            <a:ext cx="31750" cy="246888"/>
          </a:xfrm>
          <a:prstGeom prst="rect">
            <a:avLst/>
          </a:prstGeom>
          <a:solidFill>
            <a:srgbClr val="CF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0" y="4133088"/>
            <a:ext cx="475488" cy="475488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17880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740"/>
                </a:solidFill>
                <a:latin typeface="Calibri"/>
              </a:rPr>
              <a:t>Data encoded and normalised for the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03136" y="4608576"/>
            <a:ext cx="31750" cy="246888"/>
          </a:xfrm>
          <a:prstGeom prst="rect">
            <a:avLst/>
          </a:prstGeom>
          <a:solidFill>
            <a:srgbClr val="CF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0" y="4855464"/>
            <a:ext cx="475488" cy="475488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901184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740"/>
                </a:solidFill>
                <a:latin typeface="Calibri"/>
              </a:rPr>
              <a:t>Random Forest classifier generates predictions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03136" y="5330952"/>
            <a:ext cx="31750" cy="246888"/>
          </a:xfrm>
          <a:prstGeom prst="rect">
            <a:avLst/>
          </a:prstGeom>
          <a:solidFill>
            <a:srgbClr val="CFD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0" y="5577840"/>
            <a:ext cx="475488" cy="475488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6235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740"/>
                </a:solidFill>
                <a:latin typeface="Calibri"/>
              </a:rPr>
              <a:t>Top-3 careers ranked by match % and displayed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MODULES IMPLEMENTED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73352"/>
            <a:ext cx="640080" cy="64008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830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D45"/>
                </a:solidFill>
                <a:latin typeface="Calibri"/>
              </a:rPr>
              <a:t>Synthetic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740"/>
                </a:solidFill>
                <a:latin typeface="Calibri"/>
              </a:rPr>
              <a:t>8,040 student profiles — 335 per career across 24 careers. 17 features sampled from career-specific distributions with deliberate overlap, forcing genuine pattern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41732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90872" y="1673352"/>
            <a:ext cx="640080" cy="640080"/>
          </a:xfrm>
          <a:prstGeom prst="ellipse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8112" y="17830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D45"/>
                </a:solidFill>
                <a:latin typeface="Calibri"/>
              </a:rPr>
              <a:t>Random Forest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51460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740"/>
                </a:solidFill>
                <a:latin typeface="Calibri"/>
              </a:rPr>
              <a:t>200 decision trees, 80/20 stratified split, 5-fold CV. 63.9% top-1 / 93.8% top-3 accuracy. Serialised via scikit-learn for fast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0183" y="141732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04503" y="1673352"/>
            <a:ext cx="640080" cy="640080"/>
          </a:xfrm>
          <a:prstGeom prst="ellipse">
            <a:avLst/>
          </a:prstGeom>
          <a:solidFill>
            <a:srgbClr val="12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1743" y="17830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D45"/>
                </a:solidFill>
                <a:latin typeface="Calibri"/>
              </a:rPr>
              <a:t>Flask 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4503" y="251460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740"/>
                </a:solidFill>
                <a:latin typeface="Calibri"/>
              </a:rPr>
              <a:t>7 endpoints: /predict, /history, /stats and auth routes. CORS-enabled. Model loaded once at startup. Returns top-3 careers with reasons.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86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14223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519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D45"/>
                </a:solidFill>
                <a:latin typeface="Calibri"/>
              </a:rPr>
              <a:t>JWT 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740"/>
                </a:solidFill>
                <a:latin typeface="Calibri"/>
              </a:rPr>
              <a:t>Stateless auth via PyJWT. Passwords salted &amp; hashed with Werkzeug. 7-day token expiry. Identity always sourced from the verified token.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3886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90872" y="4142232"/>
            <a:ext cx="640080" cy="640080"/>
          </a:xfrm>
          <a:prstGeom prst="ellipse">
            <a:avLst/>
          </a:prstGeom>
          <a:solidFill>
            <a:srgbClr val="7A2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42519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D45"/>
                </a:solidFill>
                <a:latin typeface="Calibri"/>
              </a:rPr>
              <a:t>React 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49834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740"/>
                </a:solidFill>
                <a:latin typeface="Calibri"/>
              </a:rPr>
              <a:t>Single-page app (Vite). Progressive one-question assessment flow. Pages: Home, Assessment, Results, Dashboard. Axios HTTP client.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0183" y="3886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04503" y="4142232"/>
            <a:ext cx="640080" cy="640080"/>
          </a:xfrm>
          <a:prstGeom prst="ellipse">
            <a:avLst/>
          </a:prstGeom>
          <a:solidFill>
            <a:srgbClr val="D2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3" y="42519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D45"/>
                </a:solidFill>
                <a:latin typeface="Calibri"/>
              </a:rPr>
              <a:t>MongoDB Atlas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4503" y="49834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740"/>
                </a:solidFill>
                <a:latin typeface="Calibri"/>
              </a:rPr>
              <a:t>3 cloud collections: users, student_profiles, career_recommendations. Flexible schema. All authenticated predictions persisted per user.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KEY FEATURES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1D45"/>
                </a:solidFill>
                <a:latin typeface="Georgia"/>
              </a:rPr>
              <a:t>System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577840" cy="8412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D45"/>
                </a:solidFill>
                <a:latin typeface="Calibri"/>
              </a:rPr>
              <a:t>Progressive Assessment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A6B7F"/>
                </a:solidFill>
                <a:latin typeface="Calibri"/>
              </a:rPr>
              <a:t>One-question-at-a-time RIASEC flow with auto-advance and progress indicator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61488"/>
            <a:ext cx="5577840" cy="8412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D45"/>
                </a:solidFill>
                <a:latin typeface="Calibri"/>
              </a:rPr>
              <a:t>Multi-Factor AI Recommendation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A6B7F"/>
                </a:solidFill>
                <a:latin typeface="Calibri"/>
              </a:rPr>
              <a:t>Personality + CGPA + 10 skills analysed simultaneously — top-3 careers returned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694176"/>
            <a:ext cx="5577840" cy="8412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85616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D45"/>
                </a:solidFill>
                <a:latin typeface="Calibri"/>
              </a:rPr>
              <a:t>Explainable Recommendations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A6B7F"/>
                </a:solidFill>
                <a:latin typeface="Calibri"/>
              </a:rPr>
              <a:t>Plain-language “Why this fits you” reasons derived from RF feature importance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26864"/>
            <a:ext cx="5577840" cy="8412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18304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D45"/>
                </a:solidFill>
                <a:latin typeface="Calibri"/>
              </a:rPr>
              <a:t>Honest Confidence Display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A6B7F"/>
                </a:solidFill>
                <a:latin typeface="Calibri"/>
              </a:rPr>
              <a:t>Match bars reflect the model's raw probability, not values scaled to the top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559552"/>
            <a:ext cx="5577840" cy="841248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50992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1D45"/>
                </a:solidFill>
                <a:latin typeface="Calibri"/>
              </a:rPr>
              <a:t>History &amp; Guest Modes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A6B7F"/>
                </a:solidFill>
                <a:latin typeface="Calibri"/>
              </a:rPr>
              <a:t>Anyone can take the assessment; logged-in users get persistent saved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371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1D45"/>
                </a:solidFill>
                <a:latin typeface="Georgia"/>
              </a:rPr>
              <a:t>Authentication &amp; Security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1874520"/>
            <a:ext cx="457200" cy="457200"/>
          </a:xfrm>
          <a:prstGeom prst="ellipse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82880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E7A4D"/>
                </a:solidFill>
                <a:latin typeface="Calibri"/>
              </a:rPr>
              <a:t>Password Hashing: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2740"/>
                </a:solidFill>
                <a:latin typeface="Calibri"/>
              </a:rPr>
              <a:t>Werkzeug salted hash — passwords never stored in plain text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2807208"/>
            <a:ext cx="457200" cy="457200"/>
          </a:xfrm>
          <a:prstGeom prst="ellipse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76148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E7A4D"/>
                </a:solidFill>
                <a:latin typeface="Calibri"/>
              </a:rPr>
              <a:t>JWT Token Auth: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2740"/>
                </a:solidFill>
                <a:latin typeface="Calibri"/>
              </a:rPr>
              <a:t>7-day HS256 tokens; identity verified from token, not request body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739896"/>
            <a:ext cx="457200" cy="457200"/>
          </a:xfrm>
          <a:prstGeom prst="ellipse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6941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E7A4D"/>
                </a:solidFill>
                <a:latin typeface="Calibri"/>
              </a:rPr>
              <a:t>Route Protection: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2740"/>
                </a:solidFill>
                <a:latin typeface="Calibri"/>
              </a:rPr>
              <a:t>@login_required guards /history and protected endpoints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4672584"/>
            <a:ext cx="457200" cy="457200"/>
          </a:xfrm>
          <a:prstGeom prst="ellipse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62686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E7A4D"/>
                </a:solidFill>
                <a:latin typeface="Calibri"/>
              </a:rPr>
              <a:t>Secret Management: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2740"/>
                </a:solidFill>
                <a:latin typeface="Calibri"/>
              </a:rPr>
              <a:t>Token secret + DB string in .env; app refuses to start without it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5605272"/>
            <a:ext cx="457200" cy="457200"/>
          </a:xfrm>
          <a:prstGeom prst="ellipse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5559552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E7A4D"/>
                </a:solidFill>
                <a:latin typeface="Calibri"/>
              </a:rPr>
              <a:t>Encrypted DB Channel: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2740"/>
                </a:solidFill>
                <a:latin typeface="Calibri"/>
              </a:rPr>
              <a:t>MongoDB Atlas connection encrypted; network IP-restricted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109728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D45"/>
                </a:solidFill>
                <a:latin typeface="Georgia"/>
              </a:rPr>
              <a:t>Model Evaluation — 1,608 unseen test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5760720" cy="3200400"/>
          </a:xfrm>
          <a:prstGeom prst="roundRect">
            <a:avLst>
              <a:gd name="adj" fmla="val 3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085086"/>
            <a:ext cx="960120" cy="157835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65046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2740"/>
                </a:solidFill>
                <a:latin typeface="Calibri"/>
              </a:rPr>
              <a:t>63.9%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A6B7F"/>
                </a:solidFill>
                <a:latin typeface="Calibri"/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3087554"/>
            <a:ext cx="960120" cy="1575886"/>
          </a:xfrm>
          <a:prstGeom prst="rect">
            <a:avLst/>
          </a:prstGeom>
          <a:solidFill>
            <a:srgbClr val="12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767514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2740"/>
                </a:solidFill>
                <a:latin typeface="Calibri"/>
              </a:rPr>
              <a:t>63.8%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70916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A6B7F"/>
                </a:solidFill>
                <a:latin typeface="Calibri"/>
              </a:rP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3085086"/>
            <a:ext cx="960120" cy="1578354"/>
          </a:xfrm>
          <a:prstGeom prst="rect">
            <a:avLst/>
          </a:prstGeom>
          <a:solidFill>
            <a:srgbClr val="7A2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765046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2740"/>
                </a:solidFill>
                <a:latin typeface="Calibri"/>
              </a:rPr>
              <a:t>63.9%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70916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A6B7F"/>
                </a:solidFill>
                <a:latin typeface="Calibri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3090023"/>
            <a:ext cx="960120" cy="1573417"/>
          </a:xfrm>
          <a:prstGeom prst="rect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769983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2740"/>
                </a:solidFill>
                <a:latin typeface="Calibri"/>
              </a:rPr>
              <a:t>63.7%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70916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A6B7F"/>
                </a:solidFill>
                <a:latin typeface="Calibri"/>
              </a:rPr>
              <a:t>F1-Score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371600"/>
            <a:ext cx="5120640" cy="1234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14813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E6FB5"/>
                </a:solidFill>
                <a:latin typeface="Georgia"/>
              </a:rPr>
              <a:t>93.84%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1214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7F"/>
                </a:solidFill>
                <a:latin typeface="Calibri"/>
              </a:rPr>
              <a:t>Top-3 Accuracy — the product metric; correct career is in the 3 shown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2724912"/>
            <a:ext cx="5120640" cy="1234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8346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E6FB5"/>
                </a:solidFill>
                <a:latin typeface="Georgia"/>
              </a:rPr>
              <a:t>63.93%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4747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7F"/>
                </a:solidFill>
                <a:latin typeface="Calibri"/>
              </a:rPr>
              <a:t>Top-1 Accuracy on 1,608 unseen students (64.7% mean 5-fold CV)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078224"/>
            <a:ext cx="5120640" cy="1234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1879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E6FB5"/>
                </a:solidFill>
                <a:latin typeface="Georgia"/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82803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7F"/>
                </a:solidFill>
                <a:latin typeface="Calibri"/>
              </a:rPr>
              <a:t>Career categories — balanced, 335 records each (8,040 total)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9496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A6B7F"/>
                </a:solidFill>
                <a:latin typeface="Calibri"/>
              </a:rPr>
              <a:t>Random Forest was chosen over SVM, Logistic Regression and Gradient Boosting for its native feature importance, which powers the explanations — within a few points of the alternatives.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5440680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0E1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5440680"/>
            <a:ext cx="4663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Errors cluster on genuinely similar careers (e.g. Software Developer ↔ Cybersecurity Analyst) — evidence of real learning, not memorisation.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B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2A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CONCLUSION &amp;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D9A412"/>
                </a:solidFill>
                <a:latin typeface="Calibri"/>
              </a:rPr>
              <a:t>All four research objectives were successfully achieved.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1D45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385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Key factors (RIASEC, CGPA, skills, labour market) identified, documented, and operationalised as model inputs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1D45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529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Existing systems critically reviewed — rule-based, questionnaire, ML — confirming the gap for Nigerian students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1D45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673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Multi-factor Random Forest web recommender fully designed and implemented (React + Flask + MongoDB)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1D45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817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Achieved 93.8% top-3 accuracy across 24 career categories, with stable 5-fold cross-validation and explainable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6928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D45"/>
                </a:solidFill>
                <a:latin typeface="Calibri"/>
              </a:rPr>
              <a:t>Key Contribution:  </a:t>
            </a:r>
            <a:r>
              <a:rPr sz="1350" b="0" i="0">
                <a:solidFill>
                  <a:srgbClr val="0E1D45"/>
                </a:solidFill>
                <a:latin typeface="Calibri"/>
              </a:rPr>
              <a:t>CareerFit is the first AI-powered career recommender designed and validated specifically for Nigerian university students — a scalable, explainable complement to overstretched manual counselling.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2A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1B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RECOMMENDATIONS &amp; FUTURE WORK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E6EAF2"/>
                </a:solidFill>
                <a:latin typeface="Calibri"/>
              </a:rPr>
              <a:t>Validate with real student data — collect anonymised LASU records (with ethics approval) to retrain and confirm real-world performance.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58568"/>
            <a:ext cx="502920" cy="502920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E6EAF2"/>
                </a:solidFill>
                <a:latin typeface="Calibri"/>
              </a:rPr>
              <a:t>Refine overlapping careers — better separate close pairs (e.g. Software Developer vs. Cybersecurity Analyst) and add emerging Nigerian roles.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99816"/>
            <a:ext cx="502920" cy="502920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81528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E6EAF2"/>
                </a:solidFill>
                <a:latin typeface="Calibri"/>
              </a:rPr>
              <a:t>Integrate live labour-market data — add job-demand signals so recommendations reflect both profile and current employment opportunities.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41064"/>
            <a:ext cx="502920" cy="502920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22776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E6EAF2"/>
                </a:solidFill>
                <a:latin typeface="Calibri"/>
              </a:rPr>
              <a:t>Institutional pilot at LASU — deploy within career services on trial; gather student and counsellor feedback to iterate for real impact.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82312"/>
            <a:ext cx="502920" cy="502920"/>
          </a:xfrm>
          <a:prstGeom prst="ellipse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E1D45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64024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E6EAF2"/>
                </a:solidFill>
                <a:latin typeface="Calibri"/>
              </a:rPr>
              <a:t>Harden security &amp; ship mobile — HTTP-only token cookies + server-side revocation, and a dedicated mobile app for wider reach.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418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D9A412"/>
                </a:solidFill>
                <a:latin typeface="Calibri"/>
              </a:rPr>
              <a:t>Note: explainable recommendations — flagged as future work in the report — are already implemented in this build.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97880"/>
            <a:ext cx="10881360" cy="50800"/>
          </a:xfrm>
          <a:prstGeom prst="rect">
            <a:avLst/>
          </a:prstGeom>
          <a:solidFill>
            <a:srgbClr val="D9A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Thank You</a:t>
            </a:r>
            <a:r>
              <a:rPr sz="1800" b="0" i="0">
                <a:solidFill>
                  <a:srgbClr val="D9A412"/>
                </a:solidFill>
                <a:latin typeface="Calibri"/>
              </a:rPr>
              <a:t>   —   Questions Welcome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9C2D4"/>
                </a:solidFill>
                <a:latin typeface="Calibri"/>
              </a:rPr>
              <a:t>Adegbite Moyomade Akanji  |  Matric: 220591338  |  Dept. of Computer Science, LASU  | 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